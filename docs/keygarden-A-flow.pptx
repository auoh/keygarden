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先定调：我们不是在做一个会抢注意力的桌面宠物，而是在做一个会跟着工作节奏安静生长的角落。这次提案把你提的三个问题放在最前面：字太小、花园太大且总在最前面、每天结束的行为不够清楚。后面的所有设计，都围绕一个原则：工作时退后半步，收工时才有存在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第一，字号和主题。第二，尺寸、层级和投影。第三，把每天结束的行为设计成一个清楚的 30 秒仪式。这三件事里，第一和第三是体验问题，第二是边界问题：桌面工具不应该抢工作窗口的注意力。所以这次改版的核心不是‘更漂亮’，而是‘更知道什么时候该消失’。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模式的一天只有四个时刻。上午开始打字，花园起风下雨；中午长停顿，进入夜间模式；傍晚日切，系统封存今天，但不打扰你；第二天，新的种子开始长。这里的关键词是‘后台’：白天它自动发生，不需要你打开任何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这一页解释机制，也解释边界。左边是键类，决定花园里长什么；右边是节奏，决定天气。所有的输入只到‘类别 + 时间’这一层，看不到字符，也看不到窗口标题。隐私不是附加条款，而是这个产品的核心设计约束；否则它就不该常驻在桌面上。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左边是现在，右边是改版。现在的问题是体量和层级：396×520，几乎占掉一个侧边栏，而且 always on top，从打开那一刻就比工作窗口优先；还有一圈灰色投影，在浅色桌面上很突兀。改版先把尺寸砍到 220×280，默认不置顶，不要投影；只在你主动按快捷键时才展开。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这一页是我认为最重要的改动：默认不置顶。桌面工具不应该和正在工作的窗口抢 Z 序。桌面层是默认：它可能被工作窗口盖住，但那没关系，因为你不需要一直看见它。如果用户确实想要一直看见，再提供 220px 的角落贴纸作为可选；会议和演示时可以直接隐藏。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浅色主题‘晨纸’。它用暖白纸感，而不是刺眼的白底黑字，正文和标签都放大了。主题不是只换颜色：暗色是苔夜，浅色是晨纸，另有一个冷色的月白；同一套布局和字号。另外，字号会跟随系统缩放，避免在 125% / 150% 显示时又变小。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这是回答‘每天结束时的行为’。它不是一个定时弹窗，而是四个步骤：后台封存、一个很轻的提示、你主动打开、30 秒仪式。默认不自动打开，也不要求当天处理；你关掉电脑，明信片仍然在那里。这条规则看起来简单，但它决定了这个应用不会变成又一个通知源。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信片只回答一个问题：今天的花园是什么样子？它包含雨型、一句天气、三个氛围统计和新长出的植物。刻意不放效率分、排名、目标完成率。因为这些会把陪伴变成考核，也会让用户开始为了游戏乱敲键盘。明信片的语气应该是日志，不是绩效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晚间仪式里唯一需要做决定的地方，就是给明天留一颗种子。三选一：蕨、菌、花。它只影响明天新长出的那一株，不改变今天，也不要求连续签到；跳过就由花园自己决定。这样既有参与感，又不会把用户拉进一个每天必须打卡的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留存机制，也是反留存机制。收下之后，明信片进本周册，种子发芽，明天继续。如果不打开，也没有关系：提示会一直等，没有连续签到，没有断签惩罚，植物也不会枯死。长期来看，这种不施压的设计反而更容易让用户在下一次工作时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最后一页是边界和路线。这个版本只改 A，不扩 B/C，也不增加会打扰工作的功能。我建议分三步：先改可见性、字体和主题；再做晚间仪式；最后精修美术和回归测试。需要你拍板三件事：默认主题、默认层级、以及是否保留‘种子三选一’。你确认后我直接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" y="603504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1A697"/>
                </a:solidFill>
                <a:latin typeface="Consolas"/>
                <a:ea typeface="Consolas"/>
              </a:rPr>
              <a:t>KEYGARDEN  /  MODE A  /  DESIGN PROPOSAL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86384" y="950976"/>
            <a:ext cx="438911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749808" y="1389888"/>
            <a:ext cx="6492240" cy="21396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i="0">
                <a:solidFill>
                  <a:srgbClr val="F4EDE0"/>
                </a:solidFill>
                <a:latin typeface="Microsoft YaHei"/>
                <a:ea typeface="Microsoft YaHei"/>
              </a:rPr>
              <a:t>一天的工作，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i="0">
                <a:solidFill>
                  <a:srgbClr val="F4EDE0"/>
                </a:solidFill>
                <a:latin typeface="Microsoft YaHei"/>
                <a:ea typeface="Microsoft YaHei"/>
              </a:rPr>
              <a:t>怎么长成一座花园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712463"/>
            <a:ext cx="6217920" cy="7680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B8A8"/>
                </a:solidFill>
                <a:latin typeface="Microsoft YaHei"/>
                <a:ea typeface="Microsoft YaHei"/>
              </a:rPr>
              <a:t>A 模式的完整体验流程，以及一次针对可见性、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B8A8"/>
                </a:solidFill>
                <a:latin typeface="Microsoft YaHei"/>
                <a:ea typeface="Microsoft YaHei"/>
              </a:rPr>
              <a:t>字体与收工仪式的改版。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84632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273"/>
                </a:solidFill>
                <a:latin typeface="Consolas"/>
                <a:ea typeface="Consolas"/>
              </a:rPr>
              <a:t>v0.3  ·  2026.10  ·  FOR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31352" y="1024128"/>
            <a:ext cx="3054096" cy="4846320"/>
          </a:xfrm>
          <a:prstGeom prst="roundRect">
            <a:avLst>
              <a:gd name="adj" fmla="val 4500"/>
            </a:avLst>
          </a:prstGeom>
          <a:solidFill>
            <a:srgbClr val="0E2119"/>
          </a:solidFill>
          <a:ln w="10160">
            <a:solidFill>
              <a:srgbClr val="2940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0" y="1371600"/>
            <a:ext cx="1554480" cy="1554480"/>
          </a:xfrm>
          <a:prstGeom prst="ellipse">
            <a:avLst/>
          </a:prstGeom>
          <a:solidFill>
            <a:srgbClr val="112A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422452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1AA97"/>
                </a:solidFill>
                <a:latin typeface="Consolas"/>
                <a:ea typeface="Consolas"/>
              </a:rPr>
              <a:t>THE LITTLE GARDEN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446227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220 × 280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479145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69A8B"/>
                </a:solidFill>
                <a:latin typeface="Microsoft YaHei"/>
                <a:ea typeface="Microsoft YaHei"/>
              </a:rPr>
              <a:t>无投影  ·  默认桌面层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035040"/>
            <a:ext cx="3657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965B"/>
                </a:solidFill>
                <a:latin typeface="Consolas"/>
                <a:ea typeface="Consolas"/>
              </a:rPr>
              <a:t>A</a:t>
            </a:r>
          </a:p>
        </p:txBody>
      </p:sp>
      <p:pic>
        <p:nvPicPr>
          <p:cNvPr id="15" name="Picture 14" descr="compact-dark-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2" y="1490472"/>
            <a:ext cx="1956816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先回答你的三个问题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这次不是加功能，而是把 A 的存在感调低，把仪式感放到晚上。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456432" cy="4206240"/>
          </a:xfrm>
          <a:prstGeom prst="roundRect">
            <a:avLst>
              <a:gd name="adj" fmla="val 3500"/>
            </a:avLst>
          </a:prstGeom>
          <a:solidFill>
            <a:srgbClr val="FBF7ED"/>
          </a:solidFill>
          <a:ln w="1016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74520"/>
            <a:ext cx="502920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A6C54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04872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23026"/>
                </a:solidFill>
                <a:latin typeface="Microsoft YaHei"/>
                <a:ea typeface="Microsoft YaHei"/>
              </a:rPr>
              <a:t>字太小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35224"/>
            <a:ext cx="3035808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正文 14–16px；标题 40–66px。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三套主题，浅色优先。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691640"/>
            <a:ext cx="3456432" cy="4206240"/>
          </a:xfrm>
          <a:prstGeom prst="roundRect">
            <a:avLst>
              <a:gd name="adj" fmla="val 3500"/>
            </a:avLst>
          </a:prstGeom>
          <a:solidFill>
            <a:srgbClr val="FBF7ED"/>
          </a:solidFill>
          <a:ln w="1016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74520"/>
            <a:ext cx="502920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A6C54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404872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23026"/>
                </a:solidFill>
                <a:latin typeface="Microsoft YaHei"/>
                <a:ea typeface="Microsoft YaHei"/>
              </a:rPr>
              <a:t>花园太大、太靠前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35224"/>
            <a:ext cx="3035808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396×520 → 220×280。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默认不置顶，移除灰色投影。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面积约 −70%。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456432" cy="4206240"/>
          </a:xfrm>
          <a:prstGeom prst="roundRect">
            <a:avLst>
              <a:gd name="adj" fmla="val 3500"/>
            </a:avLst>
          </a:prstGeom>
          <a:solidFill>
            <a:srgbClr val="FBF7ED"/>
          </a:solidFill>
          <a:ln w="1016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74520"/>
            <a:ext cx="502920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A6C5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04872"/>
            <a:ext cx="301752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23026"/>
                </a:solidFill>
                <a:latin typeface="Microsoft YaHei"/>
                <a:ea typeface="Microsoft YaHei"/>
              </a:rPr>
              <a:t>结束行为看不见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935224"/>
            <a:ext cx="3035808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不弹窗。一张明信片 + 10 秒种子选择，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C5A4D"/>
                </a:solidFill>
                <a:latin typeface="Microsoft YaHei"/>
                <a:ea typeface="Microsoft YaHei"/>
              </a:rPr>
              <a:t>把今天收进花园。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4462272"/>
            <a:ext cx="859536" cy="566928"/>
          </a:xfrm>
          <a:prstGeom prst="roundRect">
            <a:avLst>
              <a:gd name="adj" fmla="val 16000"/>
            </a:avLst>
          </a:prstGeom>
          <a:solidFill>
            <a:srgbClr val="1C3529"/>
          </a:solidFill>
          <a:ln w="8890">
            <a:solidFill>
              <a:srgbClr val="2E4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" y="4599432"/>
            <a:ext cx="137160" cy="137160"/>
          </a:xfrm>
          <a:prstGeom prst="ellipse">
            <a:avLst/>
          </a:prstGeom>
          <a:solidFill>
            <a:srgbClr val="9DBA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493776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4EDE0"/>
                </a:solidFill>
                <a:latin typeface="Microsoft YaHei"/>
                <a:ea typeface="Microsoft YaHei"/>
              </a:rPr>
              <a:t>苔夜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83664" y="4462272"/>
            <a:ext cx="859536" cy="566928"/>
          </a:xfrm>
          <a:prstGeom prst="roundRect">
            <a:avLst>
              <a:gd name="adj" fmla="val 16000"/>
            </a:avLst>
          </a:prstGeom>
          <a:solidFill>
            <a:srgbClr val="F7EFE2"/>
          </a:solidFill>
          <a:ln w="8890">
            <a:solidFill>
              <a:srgbClr val="C9C0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75104" y="4599432"/>
            <a:ext cx="137160" cy="137160"/>
          </a:xfrm>
          <a:prstGeom prst="ellipse">
            <a:avLst/>
          </a:prstGeom>
          <a:solidFill>
            <a:srgbClr val="8EA0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4572000"/>
            <a:ext cx="493776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26"/>
                </a:solidFill>
                <a:latin typeface="Microsoft YaHei"/>
                <a:ea typeface="Microsoft YaHei"/>
              </a:rPr>
              <a:t>晨纸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07792" y="4462272"/>
            <a:ext cx="859536" cy="566928"/>
          </a:xfrm>
          <a:prstGeom prst="roundRect">
            <a:avLst>
              <a:gd name="adj" fmla="val 16000"/>
            </a:avLst>
          </a:prstGeom>
          <a:solidFill>
            <a:srgbClr val="E7E9E1"/>
          </a:solidFill>
          <a:ln w="8890">
            <a:solidFill>
              <a:srgbClr val="C9C0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99232" y="4599432"/>
            <a:ext cx="137160" cy="137160"/>
          </a:xfrm>
          <a:prstGeom prst="ellipse">
            <a:avLst/>
          </a:prstGeom>
          <a:solidFill>
            <a:srgbClr val="8CA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91256" y="4572000"/>
            <a:ext cx="493776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26"/>
                </a:solidFill>
                <a:latin typeface="Microsoft YaHei"/>
                <a:ea typeface="Microsoft YaHei"/>
              </a:rPr>
              <a:t>月白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157216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Microsoft YaHei"/>
                <a:ea typeface="Microsoft YaHei"/>
              </a:rPr>
              <a:t>同一套布局，三套色板与质感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8576" y="4480560"/>
            <a:ext cx="1078992" cy="960120"/>
          </a:xfrm>
          <a:prstGeom prst="roundRect">
            <a:avLst>
              <a:gd name="adj" fmla="val 8000"/>
            </a:avLst>
          </a:prstGeom>
          <a:solidFill>
            <a:srgbClr val="DBE2D4"/>
          </a:solidFill>
          <a:ln w="889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4773168"/>
            <a:ext cx="530352" cy="667512"/>
          </a:xfrm>
          <a:prstGeom prst="roundRect">
            <a:avLst>
              <a:gd name="adj" fmla="val 8000"/>
            </a:avLst>
          </a:prstGeom>
          <a:solidFill>
            <a:srgbClr val="EAE1D1"/>
          </a:solidFill>
          <a:ln w="11430">
            <a:solidFill>
              <a:srgbClr val="4A6C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550468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677"/>
                </a:solidFill>
                <a:latin typeface="Consolas"/>
                <a:ea typeface="Consolas"/>
              </a:rPr>
              <a:t>396×520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1576" y="550468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6C54"/>
                </a:solidFill>
                <a:latin typeface="Consolas"/>
                <a:ea typeface="Consolas"/>
              </a:rPr>
              <a:t>220×280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432" y="4462272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7965B"/>
                </a:solidFill>
                <a:latin typeface="Microsoft YaHei"/>
                <a:ea typeface="Microsoft YaHei"/>
              </a:rPr>
              <a:t>−70%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7616" y="4434840"/>
            <a:ext cx="1426464" cy="100584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10160">
            <a:solidFill>
              <a:srgbClr val="CEC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590288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B4A39"/>
                </a:solidFill>
                <a:latin typeface="KaiTi"/>
                <a:ea typeface="KaiTi"/>
              </a:rPr>
              <a:t>夜间细雨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03920" y="4901184"/>
            <a:ext cx="1115568" cy="0"/>
          </a:xfrm>
          <a:prstGeom prst="line">
            <a:avLst/>
          </a:prstGeom>
          <a:ln w="7620">
            <a:solidFill>
              <a:srgbClr val="D5C7B1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503920" y="4992624"/>
            <a:ext cx="113385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88677"/>
                </a:solidFill>
                <a:latin typeface="Consolas"/>
                <a:ea typeface="Consolas"/>
              </a:rPr>
              <a:t>3,180 · 72 分钟</a:t>
            </a:r>
          </a:p>
        </p:txBody>
      </p:sp>
      <p:sp>
        <p:nvSpPr>
          <p:cNvPr id="38" name="Oval 37"/>
          <p:cNvSpPr/>
          <p:nvPr/>
        </p:nvSpPr>
        <p:spPr>
          <a:xfrm>
            <a:off x="8357616" y="5596128"/>
            <a:ext cx="128016" cy="128016"/>
          </a:xfrm>
          <a:prstGeom prst="ellipse">
            <a:avLst/>
          </a:prstGeom>
          <a:solidFill>
            <a:srgbClr val="C796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554126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一个很小的“待拆”提示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071616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6C54"/>
                </a:solidFill>
                <a:latin typeface="KaiTi"/>
                <a:ea typeface="KaiTi"/>
              </a:rPr>
              <a:t>改版目标：工作时几乎感觉不到它；下班时，才想起它。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6"/>
                </a:solidFill>
                <a:latin typeface="Consolas"/>
                <a:ea typeface="Consolas"/>
              </a:rPr>
              <a:t>THE DAY / ONE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4EDE0"/>
                </a:solidFill>
                <a:latin typeface="Microsoft YaHei"/>
                <a:ea typeface="Microsoft YaHei"/>
              </a:rPr>
              <a:t>A 的一天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9A9"/>
                </a:solidFill>
                <a:latin typeface="Microsoft YaHei"/>
                <a:ea typeface="Microsoft YaHei"/>
              </a:rPr>
              <a:t>白天几乎不存在，晚上只出现一次。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3273552"/>
            <a:ext cx="10012680" cy="0"/>
          </a:xfrm>
          <a:prstGeom prst="line">
            <a:avLst/>
          </a:prstGeom>
          <a:ln w="15240">
            <a:solidFill>
              <a:srgbClr val="3B5444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325880" y="3182112"/>
            <a:ext cx="182880" cy="182880"/>
          </a:xfrm>
          <a:prstGeom prst="ellipse">
            <a:avLst/>
          </a:prstGeom>
          <a:solidFill>
            <a:srgbClr val="8BAB8D"/>
          </a:solidFill>
          <a:ln w="25400">
            <a:solidFill>
              <a:srgbClr val="0B161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603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478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第一阵雨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913632"/>
            <a:ext cx="182880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A395"/>
                </a:solidFill>
                <a:latin typeface="Microsoft YaHei"/>
                <a:ea typeface="Microsoft YaHei"/>
              </a:rPr>
              <a:t>打字 → 起风、下雨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0" y="3182112"/>
            <a:ext cx="182880" cy="182880"/>
          </a:xfrm>
          <a:prstGeom prst="ellipse">
            <a:avLst/>
          </a:prstGeom>
          <a:solidFill>
            <a:srgbClr val="7C9B80"/>
          </a:solidFill>
          <a:ln w="25400">
            <a:solidFill>
              <a:srgbClr val="0B161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5603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9B80"/>
                </a:solidFill>
                <a:latin typeface="Consolas"/>
                <a:ea typeface="Consolas"/>
              </a:rPr>
              <a:t>12:30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5478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午间停顿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913632"/>
            <a:ext cx="182880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A395"/>
                </a:solidFill>
                <a:latin typeface="Microsoft YaHei"/>
                <a:ea typeface="Microsoft YaHei"/>
              </a:rPr>
              <a:t>长停顿 → 入夜、蜗牛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182112"/>
            <a:ext cx="182880" cy="182880"/>
          </a:xfrm>
          <a:prstGeom prst="ellipse">
            <a:avLst/>
          </a:prstGeom>
          <a:solidFill>
            <a:srgbClr val="C7965B"/>
          </a:solidFill>
          <a:ln w="25400">
            <a:solidFill>
              <a:srgbClr val="0B161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25603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18:30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35478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日切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913632"/>
            <a:ext cx="182880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A395"/>
                </a:solidFill>
                <a:latin typeface="Microsoft YaHei"/>
                <a:ea typeface="Microsoft YaHei"/>
              </a:rPr>
              <a:t>把今天封存成一张明信片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3182112"/>
            <a:ext cx="182880" cy="182880"/>
          </a:xfrm>
          <a:prstGeom prst="ellipse">
            <a:avLst/>
          </a:prstGeom>
          <a:solidFill>
            <a:srgbClr val="8BAB8D"/>
          </a:solidFill>
          <a:ln w="25400">
            <a:solidFill>
              <a:srgbClr val="0B161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5603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次日 09:00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35478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新芽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913632"/>
            <a:ext cx="182880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A395"/>
                </a:solidFill>
                <a:latin typeface="Microsoft YaHei"/>
                <a:ea typeface="Microsoft YaHei"/>
              </a:rPr>
              <a:t>昨天的种子开始长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572768"/>
            <a:ext cx="4434840" cy="1143000"/>
          </a:xfrm>
          <a:prstGeom prst="roundRect">
            <a:avLst>
              <a:gd name="adj" fmla="val 6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6016" y="1865376"/>
            <a:ext cx="3886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EDE0"/>
                </a:solidFill>
                <a:latin typeface="KaiTi"/>
                <a:ea typeface="KaiTi"/>
              </a:rPr>
              <a:t>今天的忙碌，不需要被写成总结。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219456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AB8D"/>
                </a:solidFill>
                <a:latin typeface="Microsoft YaHei"/>
                <a:ea typeface="Microsoft YaHei"/>
              </a:rPr>
              <a:t>它只会变成明天的天气。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736592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8D4C7"/>
                </a:solidFill>
                <a:latin typeface="KaiTi"/>
                <a:ea typeface="KaiTi"/>
              </a:rPr>
              <a:t>没有弹窗，没有声音；一天只在你愿意的时候结算。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239512"/>
            <a:ext cx="62179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08776"/>
                </a:solidFill>
                <a:latin typeface="Consolas"/>
                <a:ea typeface="Consolas"/>
              </a:rPr>
              <a:t>THE GARDEN KEEPS TIME WITHOUT ASKING FOR 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283C30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7A6D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7A6D"/>
                </a:solidFill>
                <a:latin typeface="Consolas"/>
                <a:ea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INPUT /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它到底读到了什么？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只到“类别”和“节奏”这一层。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321808" cy="3127248"/>
          </a:xfrm>
          <a:prstGeom prst="roundRect">
            <a:avLst>
              <a:gd name="adj" fmla="val 3500"/>
            </a:avLst>
          </a:prstGeom>
          <a:solidFill>
            <a:srgbClr val="FBF7ED"/>
          </a:solidFill>
          <a:ln w="1016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8677"/>
                </a:solidFill>
                <a:latin typeface="Consolas"/>
                <a:ea typeface="Consolas"/>
              </a:rPr>
              <a:t>按键类别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1226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3026"/>
                </a:solidFill>
                <a:latin typeface="Microsoft YaHei"/>
                <a:ea typeface="Microsoft YaHei"/>
              </a:rPr>
              <a:t>决定长什么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24912"/>
            <a:ext cx="347472" cy="310896"/>
          </a:xfrm>
          <a:prstGeom prst="roundRect">
            <a:avLst>
              <a:gd name="adj" fmla="val 12000"/>
            </a:avLst>
          </a:prstGeom>
          <a:solidFill>
            <a:srgbClr val="EEE7D8"/>
          </a:solidFill>
          <a:ln w="8890">
            <a:solidFill>
              <a:srgbClr val="D4C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A4D"/>
                </a:solidFill>
                <a:latin typeface="Consolas"/>
                <a:ea typeface="Consola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61488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C5A4D"/>
                </a:solidFill>
                <a:latin typeface="Microsoft YaHei"/>
                <a:ea typeface="Microsoft YaHei"/>
              </a:rPr>
              <a:t>字母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880360"/>
            <a:ext cx="1143000" cy="0"/>
          </a:xfrm>
          <a:prstGeom prst="line">
            <a:avLst/>
          </a:prstGeom>
          <a:ln w="7620">
            <a:solidFill>
              <a:srgbClr val="D0C2A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794760" y="275234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6C54"/>
                </a:solidFill>
                <a:latin typeface="Microsoft YaHei"/>
                <a:ea typeface="Microsoft YaHei"/>
              </a:rPr>
              <a:t>→  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63824"/>
            <a:ext cx="347472" cy="310896"/>
          </a:xfrm>
          <a:prstGeom prst="roundRect">
            <a:avLst>
              <a:gd name="adj" fmla="val 12000"/>
            </a:avLst>
          </a:prstGeom>
          <a:solidFill>
            <a:srgbClr val="EEE7D8"/>
          </a:solidFill>
          <a:ln w="8890">
            <a:solidFill>
              <a:srgbClr val="D4C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A4D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C5A4D"/>
                </a:solidFill>
                <a:latin typeface="Microsoft YaHei"/>
                <a:ea typeface="Microsoft YaHei"/>
              </a:rPr>
              <a:t>数字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3319272"/>
            <a:ext cx="1143000" cy="0"/>
          </a:xfrm>
          <a:prstGeom prst="line">
            <a:avLst/>
          </a:prstGeom>
          <a:ln w="7620">
            <a:solidFill>
              <a:srgbClr val="D0C2A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794760" y="31912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6C54"/>
                </a:solidFill>
                <a:latin typeface="Microsoft YaHei"/>
                <a:ea typeface="Microsoft YaHei"/>
              </a:rPr>
              <a:t>→  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02736"/>
            <a:ext cx="347472" cy="310896"/>
          </a:xfrm>
          <a:prstGeom prst="roundRect">
            <a:avLst>
              <a:gd name="adj" fmla="val 12000"/>
            </a:avLst>
          </a:prstGeom>
          <a:solidFill>
            <a:srgbClr val="EEE7D8"/>
          </a:solidFill>
          <a:ln w="8890">
            <a:solidFill>
              <a:srgbClr val="D4C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A4D"/>
                </a:solidFill>
                <a:latin typeface="Consolas"/>
                <a:ea typeface="Consolas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3931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C5A4D"/>
                </a:solidFill>
                <a:latin typeface="Microsoft YaHei"/>
                <a:ea typeface="Microsoft YaHei"/>
              </a:rPr>
              <a:t>标点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60320" y="3758184"/>
            <a:ext cx="1143000" cy="0"/>
          </a:xfrm>
          <a:prstGeom prst="line">
            <a:avLst/>
          </a:prstGeom>
          <a:ln w="7620">
            <a:solidFill>
              <a:srgbClr val="D0C2A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3794760" y="363016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6C54"/>
                </a:solidFill>
                <a:latin typeface="Microsoft YaHei"/>
                <a:ea typeface="Microsoft YaHei"/>
              </a:rPr>
              <a:t>→  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41648"/>
            <a:ext cx="347472" cy="310896"/>
          </a:xfrm>
          <a:prstGeom prst="roundRect">
            <a:avLst>
              <a:gd name="adj" fmla="val 12000"/>
            </a:avLst>
          </a:prstGeom>
          <a:solidFill>
            <a:srgbClr val="EEE7D8"/>
          </a:solidFill>
          <a:ln w="8890">
            <a:solidFill>
              <a:srgbClr val="D4C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96511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A4D"/>
                </a:solidFill>
                <a:latin typeface="Consolas"/>
                <a:ea typeface="Consolas"/>
              </a:rPr>
              <a:t>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78224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C5A4D"/>
                </a:solidFill>
                <a:latin typeface="Microsoft YaHei"/>
                <a:ea typeface="Microsoft YaHei"/>
              </a:rPr>
              <a:t>空格 / 回车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60320" y="4197096"/>
            <a:ext cx="1143000" cy="0"/>
          </a:xfrm>
          <a:prstGeom prst="line">
            <a:avLst/>
          </a:prstGeom>
          <a:ln w="7620">
            <a:solidFill>
              <a:srgbClr val="D0C2A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794760" y="406908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6C54"/>
                </a:solidFill>
                <a:latin typeface="Microsoft YaHei"/>
                <a:ea typeface="Microsoft YaHei"/>
              </a:rPr>
              <a:t>→  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1627632"/>
            <a:ext cx="5285232" cy="3127248"/>
          </a:xfrm>
          <a:prstGeom prst="roundRect">
            <a:avLst>
              <a:gd name="adj" fmla="val 3500"/>
            </a:avLst>
          </a:prstGeom>
          <a:solidFill>
            <a:srgbClr val="FBF7ED"/>
          </a:solidFill>
          <a:ln w="1016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184708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8677"/>
                </a:solidFill>
                <a:latin typeface="Consolas"/>
                <a:ea typeface="Consolas"/>
              </a:rPr>
              <a:t>输入节奏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11226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3026"/>
                </a:solidFill>
                <a:latin typeface="Microsoft YaHei"/>
                <a:ea typeface="Microsoft YaHei"/>
              </a:rPr>
              <a:t>决定天气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798064"/>
            <a:ext cx="109728" cy="109728"/>
          </a:xfrm>
          <a:prstGeom prst="ellipse">
            <a:avLst/>
          </a:prstGeom>
          <a:solidFill>
            <a:srgbClr val="4A6C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734056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密集输入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7249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6C54"/>
                </a:solidFill>
                <a:latin typeface="Microsoft YaHei"/>
                <a:ea typeface="Microsoft YaHei"/>
              </a:rPr>
              <a:t>骤雨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7432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雨点很密，植物长得快一点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3355848"/>
            <a:ext cx="109728" cy="109728"/>
          </a:xfrm>
          <a:prstGeom prst="ellipse">
            <a:avLst/>
          </a:prstGeom>
          <a:solidFill>
            <a:srgbClr val="C796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291840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长停顿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328269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6C54"/>
                </a:solidFill>
                <a:latin typeface="Microsoft YaHei"/>
                <a:ea typeface="Microsoft YaHei"/>
              </a:rPr>
              <a:t>夜露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300984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萤火虫出来，蜗牛巡视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3913632"/>
            <a:ext cx="109728" cy="109728"/>
          </a:xfrm>
          <a:prstGeom prst="ellipse">
            <a:avLst/>
          </a:prstGeom>
          <a:solidFill>
            <a:srgbClr val="8BAB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3849624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稳定输入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84048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6C54"/>
                </a:solidFill>
                <a:latin typeface="Microsoft YaHei"/>
                <a:ea typeface="Microsoft YaHei"/>
              </a:rPr>
              <a:t>溪流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858768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不紧不慢，苔藓蔓延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010912"/>
            <a:ext cx="10863072" cy="932688"/>
          </a:xfrm>
          <a:prstGeom prst="roundRect">
            <a:avLst>
              <a:gd name="adj" fmla="val 6000"/>
            </a:avLst>
          </a:prstGeom>
          <a:solidFill>
            <a:srgbClr val="0B1612"/>
          </a:solidFill>
          <a:ln w="10160">
            <a:solidFill>
              <a:srgbClr val="2A3E3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23036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EDE0"/>
                </a:solidFill>
                <a:latin typeface="KaiTi"/>
                <a:ea typeface="KaiTi"/>
              </a:rPr>
              <a:t>只到这一层。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0048" y="5266944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3C4"/>
                </a:solidFill>
                <a:latin typeface="Microsoft YaHei"/>
                <a:ea typeface="Microsoft YaHei"/>
              </a:rPr>
              <a:t>不读字符   不读窗口标题   不读剪贴板   不联网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3648" y="526694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C898"/>
                </a:solidFill>
                <a:latin typeface="Microsoft YaHei"/>
                <a:ea typeface="Microsoft YaHei"/>
              </a:rPr>
              <a:t>键盘只是天气，不是内容。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6"/>
                </a:solidFill>
                <a:latin typeface="Consolas"/>
                <a:ea typeface="Consolas"/>
              </a:rPr>
              <a:t>DURING WORK /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4EDE0"/>
                </a:solidFill>
                <a:latin typeface="Microsoft YaHei"/>
                <a:ea typeface="Microsoft YaHei"/>
              </a:rPr>
              <a:t>工作时，花园应该退后半步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9A9"/>
                </a:solidFill>
                <a:latin typeface="Microsoft YaHei"/>
                <a:ea typeface="Microsoft YaHei"/>
              </a:rPr>
              <a:t>不是把它做得更漂亮，而是先让它不再挡路。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9C84"/>
                </a:solidFill>
                <a:latin typeface="Consolas"/>
                <a:ea typeface="Consolas"/>
              </a:rPr>
              <a:t>现在</a:t>
            </a:r>
          </a:p>
        </p:txBody>
      </p:sp>
      <p:pic>
        <p:nvPicPr>
          <p:cNvPr id="8" name="Picture 7" descr="current-overlay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64792"/>
            <a:ext cx="2331720" cy="2980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" y="483717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9280"/>
                </a:solidFill>
                <a:latin typeface="Consolas"/>
                <a:ea typeface="Consolas"/>
              </a:rPr>
              <a:t>396 × 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084064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D7B6A"/>
                </a:solidFill>
                <a:latin typeface="Microsoft YaHei"/>
                <a:ea typeface="Microsoft YaHei"/>
              </a:rPr>
              <a:t>始终置顶 / 灰色投影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48132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改版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700784"/>
            <a:ext cx="1755648" cy="2203704"/>
          </a:xfrm>
          <a:prstGeom prst="roundRect">
            <a:avLst>
              <a:gd name="adj" fmla="val 10000"/>
            </a:avLst>
          </a:prstGeom>
          <a:solidFill>
            <a:srgbClr val="0E2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1700784"/>
            <a:ext cx="1755648" cy="2203704"/>
          </a:xfrm>
          <a:prstGeom prst="roundRect">
            <a:avLst>
              <a:gd name="adj" fmla="val 10000"/>
            </a:avLst>
          </a:prstGeom>
          <a:solidFill>
            <a:srgbClr val="F4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396849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DC1A8"/>
                </a:solidFill>
                <a:latin typeface="Consolas"/>
                <a:ea typeface="Consolas"/>
              </a:rPr>
              <a:t>220 × 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4206240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A491"/>
                </a:solidFill>
                <a:latin typeface="Microsoft YaHei"/>
                <a:ea typeface="Microsoft YaHei"/>
              </a:rPr>
              <a:t>无投影 / 不占前台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461772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A594"/>
                </a:solidFill>
                <a:latin typeface="Microsoft YaHei"/>
                <a:ea typeface="Microsoft YaHei"/>
              </a:rPr>
              <a:t>苔夜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461772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A594"/>
                </a:solidFill>
                <a:latin typeface="Microsoft YaHei"/>
                <a:ea typeface="Microsoft YaHei"/>
              </a:rPr>
              <a:t>晨纸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1755648"/>
            <a:ext cx="1170432" cy="502920"/>
          </a:xfrm>
          <a:prstGeom prst="roundRect">
            <a:avLst>
              <a:gd name="adj" fmla="val 20000"/>
            </a:avLst>
          </a:prstGeom>
          <a:solidFill>
            <a:srgbClr val="2B2013"/>
          </a:solidFill>
          <a:ln w="10160">
            <a:solidFill>
              <a:srgbClr val="6A50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892807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C898"/>
                </a:solidFill>
                <a:latin typeface="Microsoft YaHei"/>
                <a:ea typeface="Microsoft YaHei"/>
              </a:rPr>
              <a:t>−70% 面积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4650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EDE0"/>
                </a:solidFill>
                <a:latin typeface="Microsoft YaHei"/>
                <a:ea typeface="Microsoft YaHei"/>
              </a:rPr>
              <a:t>只保留三种尺寸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194560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AB8D"/>
                </a:solidFill>
                <a:latin typeface="Microsoft YaHei"/>
                <a:ea typeface="Microsoft YaHei"/>
              </a:rPr>
              <a:t>微光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1762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EDE0"/>
                </a:solidFill>
                <a:latin typeface="Consolas"/>
                <a:ea typeface="Consolas"/>
              </a:rPr>
              <a:t>160 ×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47802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B8B"/>
                </a:solidFill>
                <a:latin typeface="Microsoft YaHei"/>
                <a:ea typeface="Microsoft YaHei"/>
              </a:rPr>
              <a:t>只看见一片叶子和天气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3072384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AB8D"/>
                </a:solidFill>
                <a:latin typeface="Microsoft YaHei"/>
                <a:ea typeface="Microsoft YaHei"/>
              </a:rPr>
              <a:t>角落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054096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EDE0"/>
                </a:solidFill>
                <a:latin typeface="Consolas"/>
                <a:ea typeface="Consolas"/>
              </a:rPr>
              <a:t>220 × 280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335584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B8B"/>
                </a:solidFill>
                <a:latin typeface="Microsoft YaHei"/>
                <a:ea typeface="Microsoft YaHei"/>
              </a:rPr>
              <a:t>默认尺寸，余光可见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95020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AB8D"/>
                </a:solidFill>
                <a:latin typeface="Microsoft YaHei"/>
                <a:ea typeface="Microsoft YaHei"/>
              </a:rPr>
              <a:t>展开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93192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4EDE0"/>
                </a:solidFill>
                <a:latin typeface="Consolas"/>
                <a:ea typeface="Consolas"/>
              </a:rPr>
              <a:t>340 × 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423367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B8B"/>
                </a:solidFill>
                <a:latin typeface="Microsoft YaHei"/>
                <a:ea typeface="Microsoft YaHei"/>
              </a:rPr>
              <a:t>按快捷键临时展开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404104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10241B"/>
          </a:solidFill>
          <a:ln w="889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05272"/>
            <a:ext cx="996696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1D0C2"/>
                </a:solidFill>
                <a:latin typeface="Microsoft YaHei"/>
                <a:ea typeface="Microsoft YaHei"/>
              </a:rPr>
              <a:t>默认不置顶  ·  不抢焦点  ·  无投影  ·  全屏时自动隐藏（规划中）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283C3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7A6D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7A6D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11296" y="1700784"/>
            <a:ext cx="1755648" cy="2203704"/>
          </a:xfrm>
          <a:prstGeom prst="roundRect">
            <a:avLst>
              <a:gd name="adj" fmla="val 10000"/>
            </a:avLst>
          </a:prstGeom>
          <a:solidFill>
            <a:srgbClr val="0E2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0" y="1700784"/>
            <a:ext cx="1755648" cy="2203704"/>
          </a:xfrm>
          <a:prstGeom prst="roundRect">
            <a:avLst>
              <a:gd name="adj" fmla="val 10000"/>
            </a:avLst>
          </a:prstGeom>
          <a:solidFill>
            <a:srgbClr val="F4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compact-dark-f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1755648"/>
            <a:ext cx="1645920" cy="2093976"/>
          </a:xfrm>
          <a:prstGeom prst="rect">
            <a:avLst/>
          </a:prstGeom>
        </p:spPr>
      </p:pic>
      <p:pic>
        <p:nvPicPr>
          <p:cNvPr id="40" name="Picture 39" descr="compact-light-f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264" y="1755648"/>
            <a:ext cx="1645920" cy="2093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Z-ORDER /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默认不置顶，让工作窗口永远在上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花园是背景，不是通知。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677"/>
                </a:solidFill>
                <a:latin typeface="Consolas"/>
                <a:ea typeface="Consolas"/>
              </a:rPr>
              <a:t>窗口层级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011680"/>
            <a:ext cx="5257800" cy="941832"/>
          </a:xfrm>
          <a:prstGeom prst="roundRect">
            <a:avLst>
              <a:gd name="adj" fmla="val 5000"/>
            </a:avLst>
          </a:prstGeom>
          <a:solidFill>
            <a:srgbClr val="FBF7ED"/>
          </a:solidFill>
          <a:ln w="11430">
            <a:solidFill>
              <a:srgbClr val="B8C7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21284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23026"/>
                </a:solidFill>
                <a:latin typeface="Microsoft YaHei"/>
                <a:ea typeface="Microsoft YaHei"/>
              </a:rPr>
              <a:t>工作应用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6771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你正在做的事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" y="3090672"/>
            <a:ext cx="5257800" cy="941832"/>
          </a:xfrm>
          <a:prstGeom prst="roundRect">
            <a:avLst>
              <a:gd name="adj" fmla="val 5000"/>
            </a:avLst>
          </a:prstGeom>
          <a:solidFill>
            <a:srgbClr val="DDE6D7"/>
          </a:solidFill>
          <a:ln w="12700">
            <a:solidFill>
              <a:srgbClr val="92AA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329184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6C54"/>
                </a:solidFill>
                <a:latin typeface="Microsoft YaHei"/>
                <a:ea typeface="Microsoft YaHei"/>
              </a:rPr>
              <a:t>花园 · 桌面层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346704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看得见，但不挡路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169663"/>
            <a:ext cx="5257800" cy="758952"/>
          </a:xfrm>
          <a:prstGeom prst="roundRect">
            <a:avLst>
              <a:gd name="adj" fmla="val 5000"/>
            </a:avLst>
          </a:prstGeom>
          <a:solidFill>
            <a:srgbClr val="E9E1D2"/>
          </a:solidFill>
          <a:ln w="10160">
            <a:solidFill>
              <a:srgbClr val="D0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370832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88677"/>
                </a:solidFill>
                <a:latin typeface="Microsoft YaHei"/>
                <a:ea typeface="Microsoft YaHei"/>
              </a:rPr>
              <a:t>桌面 / 壁纸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6C54"/>
                </a:solidFill>
                <a:latin typeface="Consolas"/>
                <a:ea typeface="Consolas"/>
              </a:rPr>
              <a:t>默认层级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621024"/>
            <a:ext cx="228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6C54"/>
                </a:solidFill>
                <a:latin typeface="Microsoft YaHei"/>
                <a:ea typeface="Microsoft YaHei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88677"/>
                </a:solidFill>
                <a:latin typeface="Microsoft YaHei"/>
                <a:ea typeface="Microsoft YaHei"/>
              </a:rPr>
              <a:t>不进前台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1755648"/>
            <a:ext cx="4553712" cy="1051560"/>
          </a:xfrm>
          <a:prstGeom prst="roundRect">
            <a:avLst>
              <a:gd name="adj" fmla="val 6000"/>
            </a:avLst>
          </a:prstGeom>
          <a:solidFill>
            <a:srgbClr val="E8EFE1"/>
          </a:solidFill>
          <a:ln w="12700">
            <a:solidFill>
              <a:srgbClr val="91A9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1920240"/>
            <a:ext cx="1325880" cy="2468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6C54"/>
                </a:solidFill>
                <a:latin typeface="Microsoft YaHei"/>
                <a:ea typeface="Microsoft YaHei"/>
              </a:rPr>
              <a:t>桌面层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77272" y="1920240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F0E1C7"/>
          </a:solidFill>
          <a:ln w="8890">
            <a:solidFill>
              <a:srgbClr val="CBAE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1961388"/>
            <a:ext cx="704088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B5D34"/>
                </a:solidFill>
                <a:latin typeface="Microsoft YaHei"/>
                <a:ea typeface="Microsoft YaHei"/>
              </a:rPr>
              <a:t>默认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304288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Microsoft YaHei"/>
                <a:ea typeface="Microsoft YaHei"/>
              </a:rPr>
              <a:t>不置顶、不抢焦点；工作窗口永远在上。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054096"/>
            <a:ext cx="4553712" cy="1051560"/>
          </a:xfrm>
          <a:prstGeom prst="roundRect">
            <a:avLst>
              <a:gd name="adj" fmla="val 6000"/>
            </a:avLst>
          </a:prstGeom>
          <a:solidFill>
            <a:srgbClr val="FBF7ED"/>
          </a:solidFill>
          <a:ln w="889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218688"/>
            <a:ext cx="1325880" cy="2468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角落贴纸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77272" y="3218688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E6EBDF"/>
          </a:solidFill>
          <a:ln w="8890">
            <a:solidFill>
              <a:srgbClr val="C7D2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3259836"/>
            <a:ext cx="704088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A57"/>
                </a:solidFill>
                <a:latin typeface="Microsoft YaHei"/>
                <a:ea typeface="Microsoft YaHei"/>
              </a:rPr>
              <a:t>可选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602736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Microsoft YaHei"/>
                <a:ea typeface="Microsoft YaHei"/>
              </a:rPr>
              <a:t>220px 小窗；允许置顶，但一键可隐藏。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352544"/>
            <a:ext cx="4553712" cy="1051560"/>
          </a:xfrm>
          <a:prstGeom prst="roundRect">
            <a:avLst>
              <a:gd name="adj" fmla="val 6000"/>
            </a:avLst>
          </a:prstGeom>
          <a:solidFill>
            <a:srgbClr val="FBF7ED"/>
          </a:solidFill>
          <a:ln w="8890">
            <a:solidFill>
              <a:srgbClr val="D6CA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4517136"/>
            <a:ext cx="1325880" cy="2468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专注隐藏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77272" y="4517136"/>
            <a:ext cx="704088" cy="265176"/>
          </a:xfrm>
          <a:prstGeom prst="roundRect">
            <a:avLst>
              <a:gd name="adj" fmla="val 50000"/>
            </a:avLst>
          </a:prstGeom>
          <a:solidFill>
            <a:srgbClr val="E6EBDF"/>
          </a:solidFill>
          <a:ln w="8890">
            <a:solidFill>
              <a:srgbClr val="C7D2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4558283"/>
            <a:ext cx="704088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A57"/>
                </a:solidFill>
                <a:latin typeface="Microsoft YaHei"/>
                <a:ea typeface="Microsoft YaHei"/>
              </a:rPr>
              <a:t>更安静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901183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Microsoft YaHei"/>
                <a:ea typeface="Microsoft YaHei"/>
              </a:rPr>
              <a:t>只留托盘和快捷键；适合会议、演示。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815584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6C54"/>
                </a:solidFill>
                <a:latin typeface="Microsoft YaHei"/>
                <a:ea typeface="Microsoft YaHei"/>
              </a:rPr>
              <a:t>全屏 / 演示 / 会议时可自动隐藏（规划中）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TYPE /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字大一点，主题由你选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不是换一张皮，是让同一套节奏适配你的桌面。</a:t>
            </a:r>
          </a:p>
        </p:txBody>
      </p:sp>
      <p:pic>
        <p:nvPicPr>
          <p:cNvPr id="7" name="Picture 6" descr="journ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36192"/>
            <a:ext cx="76809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34272" y="153619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677"/>
                </a:solidFill>
                <a:latin typeface="Consolas"/>
                <a:ea typeface="Consolas"/>
              </a:rPr>
              <a:t>新的字号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1810512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23026"/>
                </a:solidFill>
                <a:latin typeface="Microsoft YaHei"/>
                <a:ea typeface="Microsoft YaHei"/>
              </a:rPr>
              <a:t>正文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19456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C5A4D"/>
                </a:solidFill>
                <a:latin typeface="Microsoft YaHei"/>
                <a:ea typeface="Microsoft YaHei"/>
              </a:rPr>
              <a:t>辅助 12  ·  标题 40–66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2523744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对比现在的小字，主要信息提升约 1.5–2 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327355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677"/>
                </a:solidFill>
                <a:latin typeface="Consolas"/>
                <a:ea typeface="Consolas"/>
              </a:rPr>
              <a:t>主题</a:t>
            </a:r>
          </a:p>
        </p:txBody>
      </p:sp>
      <p:sp>
        <p:nvSpPr>
          <p:cNvPr id="13" name="Oval 12"/>
          <p:cNvSpPr/>
          <p:nvPr/>
        </p:nvSpPr>
        <p:spPr>
          <a:xfrm>
            <a:off x="9034272" y="3602736"/>
            <a:ext cx="164592" cy="164592"/>
          </a:xfrm>
          <a:prstGeom prst="ellipse">
            <a:avLst/>
          </a:prstGeom>
          <a:solidFill>
            <a:srgbClr val="1C3529"/>
          </a:solidFill>
          <a:ln w="8890">
            <a:solidFill>
              <a:srgbClr val="B9AE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356616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苔夜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813048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677"/>
                </a:solidFill>
                <a:latin typeface="Microsoft YaHei"/>
                <a:ea typeface="Microsoft YaHei"/>
              </a:rPr>
              <a:t>深绿、低光，适合夜间和工作台</a:t>
            </a:r>
          </a:p>
        </p:txBody>
      </p:sp>
      <p:sp>
        <p:nvSpPr>
          <p:cNvPr id="16" name="Oval 15"/>
          <p:cNvSpPr/>
          <p:nvPr/>
        </p:nvSpPr>
        <p:spPr>
          <a:xfrm>
            <a:off x="9034272" y="4242816"/>
            <a:ext cx="164592" cy="164592"/>
          </a:xfrm>
          <a:prstGeom prst="ellipse">
            <a:avLst/>
          </a:prstGeom>
          <a:solidFill>
            <a:srgbClr val="F4E9D6"/>
          </a:solidFill>
          <a:ln w="8890">
            <a:solidFill>
              <a:srgbClr val="B9AE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4206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晨纸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4453127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677"/>
                </a:solidFill>
                <a:latin typeface="Microsoft YaHei"/>
                <a:ea typeface="Microsoft YaHei"/>
              </a:rPr>
              <a:t>暖白、墨绿，推荐默认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423367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6C54"/>
                </a:solidFill>
                <a:latin typeface="Consolas"/>
                <a:ea typeface="Consolas"/>
              </a:rPr>
              <a:t>默认</a:t>
            </a:r>
          </a:p>
        </p:txBody>
      </p:sp>
      <p:sp>
        <p:nvSpPr>
          <p:cNvPr id="20" name="Oval 19"/>
          <p:cNvSpPr/>
          <p:nvPr/>
        </p:nvSpPr>
        <p:spPr>
          <a:xfrm>
            <a:off x="9034272" y="4882896"/>
            <a:ext cx="164592" cy="164592"/>
          </a:xfrm>
          <a:prstGeom prst="ellipse">
            <a:avLst/>
          </a:prstGeom>
          <a:solidFill>
            <a:srgbClr val="E6E9E1"/>
          </a:solidFill>
          <a:ln w="8890">
            <a:solidFill>
              <a:srgbClr val="B9AE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484632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A4D"/>
                </a:solidFill>
                <a:latin typeface="Microsoft YaHei"/>
                <a:ea typeface="Microsoft YaHei"/>
              </a:rPr>
              <a:t>月白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5093208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677"/>
                </a:solidFill>
                <a:latin typeface="Microsoft YaHei"/>
                <a:ea typeface="Microsoft YaHei"/>
              </a:rPr>
              <a:t>冷白、灰蓝，适合浅色桌面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5650992"/>
            <a:ext cx="2578608" cy="566928"/>
          </a:xfrm>
          <a:prstGeom prst="roundRect">
            <a:avLst>
              <a:gd name="adj" fmla="val 5000"/>
            </a:avLst>
          </a:prstGeom>
          <a:solidFill>
            <a:srgbClr val="E8EFE1"/>
          </a:solidFill>
          <a:ln w="8890">
            <a:solidFill>
              <a:srgbClr val="C7D4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580644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A6C54"/>
                </a:solidFill>
                <a:latin typeface="Microsoft YaHei"/>
                <a:ea typeface="Microsoft YaHei"/>
              </a:rPr>
              <a:t>浅色不是白底黑字：暖纸 + 墨绿 + 低饱和。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6"/>
                </a:solidFill>
                <a:latin typeface="Consolas"/>
                <a:ea typeface="Consolas"/>
              </a:rPr>
              <a:t>END OF DAY /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4EDE0"/>
                </a:solidFill>
                <a:latin typeface="Microsoft YaHei"/>
                <a:ea typeface="Microsoft YaHei"/>
              </a:rPr>
              <a:t>每天结束：不是弹窗，是一张等你回来的明信片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9A9"/>
                </a:solidFill>
                <a:latin typeface="Microsoft YaHei"/>
                <a:ea typeface="Microsoft YaHei"/>
              </a:rPr>
              <a:t>日切发生在后台；仪式发生在你打开手帐的那一刻。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719072"/>
            <a:ext cx="2514600" cy="3127248"/>
          </a:xfrm>
          <a:prstGeom prst="roundRect">
            <a:avLst>
              <a:gd name="adj" fmla="val 6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18:30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9806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封存今天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18688"/>
            <a:ext cx="1965960" cy="8412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A898"/>
                </a:solidFill>
                <a:latin typeface="Microsoft YaHei"/>
                <a:ea typeface="Microsoft YaHei"/>
              </a:rPr>
              <a:t>系统只把今天归档，不打扰你。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719072"/>
            <a:ext cx="2514600" cy="3127248"/>
          </a:xfrm>
          <a:prstGeom prst="roundRect">
            <a:avLst>
              <a:gd name="adj" fmla="val 6000"/>
            </a:avLst>
          </a:prstGeom>
          <a:solidFill>
            <a:srgbClr val="222015"/>
          </a:solidFill>
          <a:ln w="10160">
            <a:solidFill>
              <a:srgbClr val="664E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385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+1 分钟</a:t>
            </a:r>
          </a:p>
        </p:txBody>
      </p:sp>
      <p:sp>
        <p:nvSpPr>
          <p:cNvPr id="13" name="Oval 12"/>
          <p:cNvSpPr/>
          <p:nvPr/>
        </p:nvSpPr>
        <p:spPr>
          <a:xfrm>
            <a:off x="3694176" y="2496312"/>
            <a:ext cx="164592" cy="164592"/>
          </a:xfrm>
          <a:prstGeom prst="ellipse">
            <a:avLst/>
          </a:prstGeom>
          <a:solidFill>
            <a:srgbClr val="C796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79806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一个琥珀点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218688"/>
            <a:ext cx="1965960" cy="8412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A898"/>
                </a:solidFill>
                <a:latin typeface="Microsoft YaHei"/>
                <a:ea typeface="Microsoft YaHei"/>
              </a:rPr>
              <a:t>托盘和角落出现小点；没有声音。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719072"/>
            <a:ext cx="2514600" cy="3127248"/>
          </a:xfrm>
          <a:prstGeom prst="roundRect">
            <a:avLst>
              <a:gd name="adj" fmla="val 6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385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任意时间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79806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你打开手帐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18688"/>
            <a:ext cx="1965960" cy="8412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A898"/>
                </a:solidFill>
                <a:latin typeface="Microsoft YaHei"/>
                <a:ea typeface="Microsoft YaHei"/>
              </a:rPr>
              <a:t>Ctrl+Alt+G，或从托盘打开。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719072"/>
            <a:ext cx="2514600" cy="3127248"/>
          </a:xfrm>
          <a:prstGeom prst="roundRect">
            <a:avLst>
              <a:gd name="adj" fmla="val 6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9385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EDE0"/>
                </a:solidFill>
                <a:latin typeface="Consolas"/>
                <a:ea typeface="Consolas"/>
              </a:rPr>
              <a:t>30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79806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4EDE0"/>
                </a:solidFill>
                <a:latin typeface="Microsoft YaHei"/>
                <a:ea typeface="Microsoft YaHei"/>
              </a:rPr>
              <a:t>收下今天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218688"/>
            <a:ext cx="1965960" cy="8412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2A898"/>
                </a:solidFill>
                <a:latin typeface="Microsoft YaHei"/>
                <a:ea typeface="Microsoft YaHei"/>
              </a:rPr>
              <a:t>拆明信片、选种子、收进花园。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230368"/>
            <a:ext cx="804672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1D5BF"/>
                </a:solidFill>
                <a:latin typeface="KaiTi"/>
                <a:ea typeface="KaiTi"/>
              </a:rPr>
              <a:t>不自动打开、不弹窗、不要求当天必须处理。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63270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A494"/>
                </a:solidFill>
                <a:latin typeface="Microsoft YaHei"/>
                <a:ea typeface="Microsoft YaHei"/>
              </a:rPr>
              <a:t>你可以继续工作，也可以直接关掉电脑。明信片会在那里。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283C3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7A6D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7A6D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133087"/>
            <a:ext cx="93268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000">
                <a:solidFill>
                  <a:srgbClr val="183226"/>
                </a:solidFill>
                <a:latin typeface="Consola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4133087"/>
            <a:ext cx="93268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000">
                <a:solidFill>
                  <a:srgbClr val="3B2C19"/>
                </a:solidFill>
                <a:latin typeface="Consola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4133087"/>
            <a:ext cx="93268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000">
                <a:solidFill>
                  <a:srgbClr val="183226"/>
                </a:solidFill>
                <a:latin typeface="Consola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8" y="4133087"/>
            <a:ext cx="93268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000">
                <a:solidFill>
                  <a:srgbClr val="183226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END OF DAY /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拆开今天：一张明信片就够了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它总结天气，不总结你的效率。</a:t>
            </a:r>
          </a:p>
        </p:txBody>
      </p:sp>
      <p:pic>
        <p:nvPicPr>
          <p:cNvPr id="7" name="Picture 6" descr="postcard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00200"/>
            <a:ext cx="7406640" cy="428853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66928" y="6035040"/>
            <a:ext cx="7406639" cy="0"/>
          </a:xfrm>
          <a:prstGeom prst="line">
            <a:avLst/>
          </a:prstGeom>
          <a:ln w="8890">
            <a:solidFill>
              <a:srgbClr val="D6C8B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66928" y="609904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Consolas"/>
                <a:ea typeface="Consolas"/>
              </a:rPr>
              <a:t>一张明信片 / 四个信息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6C54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1848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26"/>
                </a:solidFill>
                <a:latin typeface="Microsoft YaHei"/>
                <a:ea typeface="Microsoft YaHei"/>
              </a:rPr>
              <a:t>标题：今天的雨型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01952"/>
            <a:ext cx="29260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晨间阵雨 / 夜间细雨 / 绵长溪流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6C54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42616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26"/>
                </a:solidFill>
                <a:latin typeface="Microsoft YaHei"/>
                <a:ea typeface="Microsoft YaHei"/>
              </a:rPr>
              <a:t>一句话：天气，不是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26080"/>
            <a:ext cx="29260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“灯亮着，花园也跟着醒着。”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75888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6C5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66674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26"/>
                </a:solidFill>
                <a:latin typeface="Microsoft YaHei"/>
                <a:ea typeface="Microsoft YaHei"/>
              </a:rPr>
              <a:t>三个数字：雨量、陪伴、停顿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50208"/>
            <a:ext cx="29260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没有效率分，也没有排名。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700016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6C54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9087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26"/>
                </a:solidFill>
                <a:latin typeface="Microsoft YaHei"/>
                <a:ea typeface="Microsoft YaHei"/>
              </a:rPr>
              <a:t>新长出的那株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974336"/>
            <a:ext cx="29260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677"/>
                </a:solidFill>
                <a:latin typeface="Microsoft YaHei"/>
                <a:ea typeface="Microsoft YaHei"/>
              </a:rPr>
              <a:t>决定它的是键类与节奏，不是你写得好不好。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89788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6C54"/>
                </a:solidFill>
                <a:latin typeface="KaiTi"/>
                <a:ea typeface="KaiTi"/>
              </a:rPr>
              <a:t>没有效率评分、没有排名、没有“你今天不够努力”。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4A6C5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677"/>
                </a:solidFill>
                <a:latin typeface="Consolas"/>
                <a:ea typeface="Consolas"/>
              </a:rPr>
              <a:t>END OF DAY / ONE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23026"/>
                </a:solidFill>
                <a:latin typeface="Microsoft YaHei"/>
                <a:ea typeface="Microsoft YaHei"/>
              </a:rPr>
              <a:t>给明天留一颗种子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C5A4D"/>
                </a:solidFill>
                <a:latin typeface="Microsoft YaHei"/>
                <a:ea typeface="Microsoft YaHei"/>
              </a:rPr>
              <a:t>一天只做一个小决定，10 秒就够。</a:t>
            </a:r>
          </a:p>
        </p:txBody>
      </p:sp>
      <p:pic>
        <p:nvPicPr>
          <p:cNvPr id="7" name="Picture 6" descr="seed-ch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7818120" cy="4882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572768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677"/>
                </a:solidFill>
                <a:latin typeface="Consolas"/>
                <a:ea typeface="Consolas"/>
              </a:rPr>
              <a:t>一个选择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65376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23026"/>
                </a:solidFill>
                <a:latin typeface="KaiTi"/>
                <a:ea typeface="KaiTi"/>
              </a:rPr>
              <a:t>不是签到，不是任务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59689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6C54"/>
                </a:solidFill>
                <a:latin typeface="Microsoft YaHei"/>
                <a:ea typeface="Microsoft YaHei"/>
              </a:rPr>
              <a:t>三选一：蕨 / 菌 / 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0360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只决定明天新长出的那一株。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40156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跳过也可以：花园自己决定。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92277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677"/>
                </a:solidFill>
                <a:latin typeface="Microsoft YaHei"/>
                <a:ea typeface="Microsoft YaHei"/>
              </a:rPr>
              <a:t>不改变今天，也不扣任何东西。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754880"/>
            <a:ext cx="2834640" cy="859536"/>
          </a:xfrm>
          <a:prstGeom prst="roundRect">
            <a:avLst>
              <a:gd name="adj" fmla="val 5000"/>
            </a:avLst>
          </a:prstGeom>
          <a:solidFill>
            <a:srgbClr val="EAE4D4"/>
          </a:solidFill>
          <a:ln w="8890">
            <a:solidFill>
              <a:srgbClr val="D4C7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49103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965B"/>
                </a:solidFill>
                <a:latin typeface="Consolas"/>
                <a:ea typeface="Consolas"/>
              </a:rPr>
              <a:t>如果跳过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5138928"/>
            <a:ext cx="2523744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677"/>
                </a:solidFill>
                <a:latin typeface="Microsoft YaHei"/>
                <a:ea typeface="Microsoft YaHei"/>
              </a:rPr>
              <a:t>今晚的明信片仍然会被收好，明天的花园照常生长。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D8CCB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9F88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F88"/>
                </a:solidFill>
                <a:latin typeface="Consolas"/>
                <a:ea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6"/>
                </a:solidFill>
                <a:latin typeface="Consolas"/>
                <a:ea typeface="Consolas"/>
              </a:rPr>
              <a:t>NO PRESSURE /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4EDE0"/>
                </a:solidFill>
                <a:latin typeface="Microsoft YaHei"/>
                <a:ea typeface="Microsoft YaHei"/>
              </a:rPr>
              <a:t>你可以收下，也可以让它等你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9A9"/>
                </a:solidFill>
                <a:latin typeface="Microsoft YaHei"/>
                <a:ea typeface="Microsoft YaHei"/>
              </a:rPr>
              <a:t>花园不会因为休息而枯萎。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760720" cy="3931920"/>
          </a:xfrm>
          <a:prstGeom prst="roundRect">
            <a:avLst>
              <a:gd name="adj" fmla="val 5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AB8D"/>
                </a:solidFill>
                <a:latin typeface="Consolas"/>
                <a:ea typeface="Consolas"/>
              </a:rPr>
              <a:t>收下之后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42062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23113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EDE0"/>
                </a:solidFill>
                <a:latin typeface="Microsoft YaHei"/>
                <a:ea typeface="Microsoft YaHei"/>
              </a:rPr>
              <a:t>明信片进本周册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53288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5"/>
                </a:solidFill>
                <a:latin typeface="Microsoft YaHei"/>
                <a:ea typeface="Microsoft YaHei"/>
              </a:rPr>
              <a:t>七张之后，变成一页天气记录。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91256"/>
            <a:ext cx="42062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172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EDE0"/>
                </a:solidFill>
                <a:latin typeface="Microsoft YaHei"/>
                <a:ea typeface="Microsoft YaHei"/>
              </a:rPr>
              <a:t>种子在角落发芽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474720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5"/>
                </a:solidFill>
                <a:latin typeface="Microsoft YaHei"/>
                <a:ea typeface="Microsoft YaHei"/>
              </a:rPr>
              <a:t>悬浮窗里的花园慢半拍更新。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33087"/>
            <a:ext cx="42062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411480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EDE0"/>
                </a:solidFill>
                <a:latin typeface="Microsoft YaHei"/>
                <a:ea typeface="Microsoft YaHei"/>
              </a:rPr>
              <a:t>明天继续工作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416551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5"/>
                </a:solidFill>
                <a:latin typeface="Microsoft YaHei"/>
                <a:ea typeface="Microsoft YaHei"/>
              </a:rPr>
              <a:t>没有新的任务，也没有待办清单。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754880"/>
            <a:ext cx="4892039" cy="0"/>
          </a:xfrm>
          <a:prstGeom prst="line">
            <a:avLst/>
          </a:prstGeom>
          <a:ln w="8890">
            <a:solidFill>
              <a:srgbClr val="31483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932688" y="4919472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D8CA"/>
                </a:solidFill>
                <a:latin typeface="KaiTi"/>
                <a:ea typeface="KaiTi"/>
              </a:rPr>
              <a:t>花园不需要被管理，只需要被记得。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6276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595"/>
                </a:solidFill>
                <a:latin typeface="Consolas"/>
                <a:ea typeface="Consolas"/>
              </a:rPr>
              <a:t>本周册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975104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31736" y="2203704"/>
            <a:ext cx="822960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031736" y="2368296"/>
            <a:ext cx="82296" cy="82296"/>
          </a:xfrm>
          <a:prstGeom prst="ellipse">
            <a:avLst/>
          </a:prstGeom>
          <a:solidFill>
            <a:srgbClr val="6F87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551176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安静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02167" y="1975104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330183" y="2203704"/>
            <a:ext cx="822961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330183" y="2368296"/>
            <a:ext cx="82296" cy="82296"/>
          </a:xfrm>
          <a:prstGeom prst="ellipse">
            <a:avLst/>
          </a:prstGeom>
          <a:solidFill>
            <a:srgbClr val="91A2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2551176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晨雨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616" y="1975104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628632" y="2203704"/>
            <a:ext cx="822960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9628632" y="2368296"/>
            <a:ext cx="82296" cy="82296"/>
          </a:xfrm>
          <a:prstGeom prst="ellipse">
            <a:avLst/>
          </a:prstGeom>
          <a:solidFill>
            <a:srgbClr val="B19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8632" y="2551176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夜雨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200400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031736" y="3429000"/>
            <a:ext cx="822960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7031736" y="3593592"/>
            <a:ext cx="82296" cy="82296"/>
          </a:xfrm>
          <a:prstGeom prst="ellipse">
            <a:avLst/>
          </a:prstGeom>
          <a:solidFill>
            <a:srgbClr val="C29A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3776472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风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2167" y="3200400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30183" y="3429000"/>
            <a:ext cx="822961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8330183" y="3593592"/>
            <a:ext cx="82296" cy="82296"/>
          </a:xfrm>
          <a:prstGeom prst="ellipse">
            <a:avLst/>
          </a:prstGeom>
          <a:solidFill>
            <a:srgbClr val="849B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3" y="3776472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溪流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0616" y="3200400"/>
            <a:ext cx="1078992" cy="1005840"/>
          </a:xfrm>
          <a:prstGeom prst="roundRect">
            <a:avLst>
              <a:gd name="adj" fmla="val 4000"/>
            </a:avLst>
          </a:prstGeom>
          <a:solidFill>
            <a:srgbClr val="F4ECDB"/>
          </a:solidFill>
          <a:ln w="10160">
            <a:solidFill>
              <a:srgbClr val="4C5D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628632" y="3429000"/>
            <a:ext cx="822960" cy="0"/>
          </a:xfrm>
          <a:prstGeom prst="line">
            <a:avLst/>
          </a:prstGeom>
          <a:ln w="7620">
            <a:solidFill>
              <a:srgbClr val="CEBEA6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9628632" y="3593592"/>
            <a:ext cx="82296" cy="82296"/>
          </a:xfrm>
          <a:prstGeom prst="ellipse">
            <a:avLst/>
          </a:prstGeom>
          <a:solidFill>
            <a:srgbClr val="7C88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28632" y="3776472"/>
            <a:ext cx="841248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05D"/>
                </a:solidFill>
                <a:latin typeface="Microsoft YaHei"/>
                <a:ea typeface="Microsoft YaHei"/>
              </a:rPr>
              <a:t>夜雨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4498848"/>
            <a:ext cx="3931920" cy="1335024"/>
          </a:xfrm>
          <a:prstGeom prst="roundRect">
            <a:avLst>
              <a:gd name="adj" fmla="val 5000"/>
            </a:avLst>
          </a:prstGeom>
          <a:solidFill>
            <a:srgbClr val="1C1B13"/>
          </a:solidFill>
          <a:ln w="10160">
            <a:solidFill>
              <a:srgbClr val="5D4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59752" y="4800600"/>
            <a:ext cx="146304" cy="146304"/>
          </a:xfrm>
          <a:prstGeom prst="ellipse">
            <a:avLst/>
          </a:prstGeom>
          <a:solidFill>
            <a:srgbClr val="C796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473659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6C898"/>
                </a:solidFill>
                <a:latin typeface="Microsoft YaHei"/>
                <a:ea typeface="Microsoft YaHei"/>
              </a:rPr>
              <a:t>不打开也没关系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8896" y="5102352"/>
            <a:ext cx="338328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B19C"/>
                </a:solidFill>
                <a:latin typeface="Microsoft YaHei"/>
                <a:ea typeface="Microsoft YaHei"/>
              </a:rPr>
              <a:t>琥珀点会等你。没有连续签到，没有断签惩罚，植物也不会枯死。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5815584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9D0BB"/>
                </a:solidFill>
                <a:latin typeface="KaiTi"/>
                <a:ea typeface="KaiTi"/>
              </a:rPr>
              <a:t>它不催你。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283C3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7A6D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7A6D"/>
                </a:solidFill>
                <a:latin typeface="Consolas"/>
                <a:ea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58368" y="457200"/>
            <a:ext cx="237744" cy="0"/>
          </a:xfrm>
          <a:prstGeom prst="line">
            <a:avLst/>
          </a:prstGeom>
          <a:ln w="17780">
            <a:solidFill>
              <a:srgbClr val="C7965B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987552" y="36576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6"/>
                </a:solidFill>
                <a:latin typeface="Consolas"/>
                <a:ea typeface="Consolas"/>
              </a:rPr>
              <a:t>BOUNDARIES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4EDE0"/>
                </a:solidFill>
                <a:latin typeface="Microsoft YaHei"/>
                <a:ea typeface="Microsoft YaHei"/>
              </a:rPr>
              <a:t>只改 A，先不扩功能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6128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9A9"/>
                </a:solidFill>
                <a:latin typeface="Microsoft YaHei"/>
                <a:ea typeface="Microsoft YaHei"/>
              </a:rPr>
              <a:t>先解决看得见的问题，再做仪式；B/C 留到之后。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91056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595"/>
                </a:solidFill>
                <a:latin typeface="Consolas"/>
                <a:ea typeface="Consolas"/>
              </a:rPr>
              <a:t>不会做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029968"/>
            <a:ext cx="109728" cy="109728"/>
          </a:xfrm>
          <a:prstGeom prst="ellipse">
            <a:avLst/>
          </a:prstGeom>
          <a:solidFill>
            <a:srgbClr val="6C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BDAD"/>
                </a:solidFill>
                <a:latin typeface="Microsoft YaHei"/>
                <a:ea typeface="Microsoft YaHei"/>
              </a:rPr>
              <a:t>效率评分 / 排名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42032"/>
            <a:ext cx="109728" cy="109728"/>
          </a:xfrm>
          <a:prstGeom prst="ellipse">
            <a:avLst/>
          </a:prstGeom>
          <a:solidFill>
            <a:srgbClr val="6C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BDAD"/>
                </a:solidFill>
                <a:latin typeface="Microsoft YaHei"/>
                <a:ea typeface="Microsoft YaHei"/>
              </a:rPr>
              <a:t>自动弹窗 / 声音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054096"/>
            <a:ext cx="109728" cy="109728"/>
          </a:xfrm>
          <a:prstGeom prst="ellipse">
            <a:avLst/>
          </a:prstGeom>
          <a:solidFill>
            <a:srgbClr val="6C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80944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BDAD"/>
                </a:solidFill>
                <a:latin typeface="Microsoft YaHei"/>
                <a:ea typeface="Microsoft YaHei"/>
              </a:rPr>
              <a:t>全屏弹窗打断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566160"/>
            <a:ext cx="109728" cy="109728"/>
          </a:xfrm>
          <a:prstGeom prst="ellipse">
            <a:avLst/>
          </a:prstGeom>
          <a:solidFill>
            <a:srgbClr val="6C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9300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BDAD"/>
                </a:solidFill>
                <a:latin typeface="Microsoft YaHei"/>
                <a:ea typeface="Microsoft YaHei"/>
              </a:rPr>
              <a:t>读取字符或窗口标题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1591056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595"/>
                </a:solidFill>
                <a:latin typeface="Consolas"/>
                <a:ea typeface="Consolas"/>
              </a:rPr>
              <a:t>实施顺序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1975104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56816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EDE0"/>
                </a:solidFill>
                <a:latin typeface="Microsoft YaHei"/>
                <a:ea typeface="Microsoft YaHei"/>
              </a:rPr>
              <a:t>可见性 + 字体 + 主题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7510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Consolas"/>
                <a:ea typeface="Consolas"/>
              </a:rPr>
              <a:t>1–2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4942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Microsoft YaHei"/>
                <a:ea typeface="Microsoft YaHei"/>
              </a:rPr>
              <a:t>小尺寸、桌面层、移除投影、浅色主题与字号。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852928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34640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EDE0"/>
                </a:solidFill>
                <a:latin typeface="Microsoft YaHei"/>
                <a:ea typeface="Microsoft YaHei"/>
              </a:rPr>
              <a:t>晚间仪式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8529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Consolas"/>
                <a:ea typeface="Consolas"/>
              </a:rPr>
              <a:t>2–3 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12724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Microsoft YaHei"/>
                <a:ea typeface="Microsoft YaHei"/>
              </a:rPr>
              <a:t>明信片页、种子三选一、本周册。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3730752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71246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EDE0"/>
                </a:solidFill>
                <a:latin typeface="Microsoft YaHei"/>
                <a:ea typeface="Microsoft YaHei"/>
              </a:rPr>
              <a:t>美术与验证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730752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Consolas"/>
                <a:ea typeface="Consolas"/>
              </a:rPr>
              <a:t>3–5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005072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Microsoft YaHei"/>
                <a:ea typeface="Microsoft YaHei"/>
              </a:rPr>
              <a:t>重画生态瓶、真实输入回归、安装包。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60857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7965B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9028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EDE0"/>
                </a:solidFill>
                <a:latin typeface="Microsoft YaHei"/>
                <a:ea typeface="Microsoft YaHei"/>
              </a:rPr>
              <a:t>B / C 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608576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Consolas"/>
                <a:ea typeface="Consolas"/>
              </a:rPr>
              <a:t>之后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882896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FA595"/>
                </a:solidFill>
                <a:latin typeface="Microsoft YaHei"/>
                <a:ea typeface="Microsoft YaHei"/>
              </a:rPr>
              <a:t>复用同一套输入与日切引擎。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498848"/>
            <a:ext cx="4617720" cy="1408176"/>
          </a:xfrm>
          <a:prstGeom prst="roundRect">
            <a:avLst>
              <a:gd name="adj" fmla="val 5000"/>
            </a:avLst>
          </a:prstGeom>
          <a:solidFill>
            <a:srgbClr val="10241B"/>
          </a:solidFill>
          <a:ln w="10160">
            <a:solidFill>
              <a:srgbClr val="3148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68172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C898"/>
                </a:solidFill>
                <a:latin typeface="Consolas"/>
                <a:ea typeface="Consolas"/>
              </a:rPr>
              <a:t>需要你拍板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974336"/>
            <a:ext cx="406908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4C6"/>
                </a:solidFill>
                <a:latin typeface="Microsoft YaHei"/>
                <a:ea typeface="Microsoft YaHei"/>
              </a:rPr>
              <a:t>① 默认主题：晨纸 / 苔夜？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4C6"/>
                </a:solidFill>
                <a:latin typeface="Microsoft YaHei"/>
                <a:ea typeface="Microsoft YaHei"/>
              </a:rPr>
              <a:t>② 默认层级：桌面层 / 角落贴纸？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4C6"/>
                </a:solidFill>
                <a:latin typeface="Microsoft YaHei"/>
                <a:ea typeface="Microsoft YaHei"/>
              </a:rPr>
              <a:t>③ 收工仪式：种子三选一？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595"/>
                </a:solidFill>
                <a:latin typeface="Microsoft YaHei"/>
                <a:ea typeface="Microsoft YaHei"/>
              </a:rPr>
              <a:t>你确认后，我直接改 A，并更新安装包。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7620">
            <a:solidFill>
              <a:srgbClr val="283C30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7A6D"/>
                </a:solidFill>
                <a:latin typeface="Consolas"/>
                <a:ea typeface="Consolas"/>
              </a:rPr>
              <a:t>键息花园 / A 模式 / 概念提案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28816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7A6D"/>
                </a:solidFill>
                <a:latin typeface="Consolas"/>
                <a:ea typeface="Consola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